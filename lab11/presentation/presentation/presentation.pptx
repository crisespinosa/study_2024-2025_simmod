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24624@pfur.ru" TargetMode="External" /><Relationship Id="rId3" Type="http://schemas.openxmlformats.org/officeDocument/2006/relationships/hyperlink" Target="https://github.com/crisespinosa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idx="1" type="subTitle"/>
              </p:nvPr>
            </p:nvSpPr>
            <p:spPr>
              <a:xfrm>
                <a:off x="1371600" y="2914650"/>
                <a:ext cx="6400800" cy="1314450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Модель системы массового обслуживания </a:t>
                </a:r>
                <a14:m>
                  <m:oMath xmlns:m="http://schemas.openxmlformats.org/officeDocument/2006/math">
                    <m:r>
                      <m:t>M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M</m:t>
                        </m:r>
                      </m:e>
                    </m:d>
                    <m:r>
                      <m:t>1</m:t>
                    </m:r>
                  </m:oMath>
                </a14:m>
                <a:br/>
                <a:br/>
                <a:r>
                  <a:rPr/>
                  <a:t>Эспиноса Василита К.М.</a:t>
                </a:r>
              </a:p>
            </p:txBody>
          </p:sp>
        </mc:Choice>
      </mc:AlternateContent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26/04/2025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Эспиноса Василита Кристина Микаела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1032224624@pfur.ru</a:t>
            </a:r>
          </a:p>
          <a:p>
            <a:pPr lvl="0"/>
            <a:r>
              <a:rPr>
                <a:hlinkClick r:id="rId3"/>
              </a:rPr>
              <a:t>https://github.com/crisespinosa/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Реализовать модель </a:t>
                </a:r>
                <a14:m>
                  <m:oMath xmlns:m="http://schemas.openxmlformats.org/officeDocument/2006/math">
                    <m:r>
                      <m:t>M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M</m:t>
                        </m:r>
                      </m:e>
                    </m:d>
                    <m:r>
                      <m:t>1</m:t>
                    </m:r>
                  </m:oMath>
                </a14:m>
                <a:r>
                  <a:rPr/>
                  <a:t> в CPN tools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Реализовать в CPN Tools модель системы массового обслуживания M|M|1.</a:t>
            </a:r>
          </a:p>
          <a:p>
            <a:pPr lvl="0"/>
            <a:r>
              <a:rPr/>
              <a:t>Настроить мониторинг параметров моделируемой системы и нарисовать графики очереди.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систему поступает поток заявок двух типов, распределённый по пуассоновскому закону. Заявки поступают в очередь сервера на обработку. Дисциплина очереди - FIFO. Если сервер находится в режиме ожидания (нет заявок на сервере), то заявка поступает на обработку сервером.</a:t>
            </a:r>
          </a:p>
          <a:p>
            <a:pPr lvl="0" indent="0" marL="0">
              <a:buNone/>
            </a:pPr>
            <a:r>
              <a:rPr/>
              <a:t>Будем использовать три отдельных листа: на первом листе опишем граф системы (рис. [-@fig:001]), на втором — генератор заявок (рис. [-@fig:002]), на третьем — сервер обработки заявок (рис. [-@fig:003]).</a:t>
            </a:r>
          </a:p>
          <a:p>
            <a:pPr lvl="0" indent="0" marL="0">
              <a:buNone/>
            </a:pPr>
            <a:r>
              <a:rPr/>
              <a:t>Сеть имеет 2 позиции (очередь — Queue, обслуженные заявки — Complited) и два перехода (генерировать заявку — Arrivals, передать заявку на обработку сер- веру — Server). Переходы имеют сложную иерархическую структуру, задаваемую на отдельных листах модели (с помощью соответствующего инструмента меню — Hierarchy).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Между переходом Arrivals и позицией Queue, а также между позицией Queue и переходом Server установлена дуплексная связь. Между переходом Server и позицией Complited — односторонняя связь.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 генератора заявок имеет 3 позиции (текущая заявка — Init, следующая заявка — Next, очередь — Queue из листа System) и 2 перехода (Init — определяет распределение поступления заявок по экспоненциальному закону с интенсивностью 100 заявок в единицу времени, Arrive — определяет поступление заявок в очередь).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 процесса обработки заявок на сервере имеет 4 позиции (Busy — сервер занят, Idle — сервер в режиме ожидания, Queue и Complited из листа System) и 2 перехода (Start — начать обработку заявки, Stop — закончить обработку заявки).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Зададим декларации системы (рис. [-@fig:004]).</a:t>
            </a:r>
          </a:p>
          <a:p>
            <a:pPr lvl="0" indent="0" marL="0">
              <a:buNone/>
            </a:pPr>
            <a:r>
              <a:rPr/>
              <a:t>Определим множества цветов системы (colorset):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83100" y="203200"/>
            <a:ext cx="3263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Зададим параметры модели на графах сети.</a:t>
            </a:r>
          </a:p>
          <a:p>
            <a:pPr lvl="0" indent="0" marL="0">
              <a:buNone/>
            </a:pPr>
            <a:r>
              <a:rPr/>
              <a:t>На листе System (рис. [-@fig:005]):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листе Arrivals (рис. [-@fig:006]):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листе Server (рис. [-@fig:007]):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Потребуется палитра Monitoring. Выбираем Break Point (точка останова) и устанавливаем её на переход Start. После этого в разделе меню Monitor появится новый подраздел, который назовём Ostanovka. В этом подразделе необходимо внести изменения в функцию Predicate, которая будет выполняться при запуске монитора. Зададим число шагов, через которое будем останавливать мониторинг. Для этого true заменим на Queue_Delay.count()=200.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47800"/>
            <a:ext cx="5105400" cy="190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Необходимо определить конструкцию Queue_Delay.count(). С помощью палитры Monitoring выбираем Data Call и устанавливаем на переходе Start. Появившийся в меню монитор называем Queue Delay (без подчеркивания). Функция Observer выполняется тогда, когда функция предикатора выдаёт значение true. По умолчанию функция выдаёт 0 или унарный минус (~1), подчёркивание обозначает произвольный аргумент. Изменим её так, чтобы получить значение задержки в очереди. Для этого необходимо из текущего времени intTime() вычесть временную метку AT , означающую приход заявки в очередь.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85900"/>
            <a:ext cx="5105400" cy="180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программы на выполнение в каталоге с кодом программы появится файл Queue_Delay.log (рис. [-@fig:010]), содержащий в первой колонке — значение задержки очереди, во второй — счётчик, в третьей — шаг, в четвёртой — время.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203200"/>
            <a:ext cx="50800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gnuplot можно построить график значений задержки в очереди (рис. [-@fig:011]), выбрав по оси x время, а по оси y — значения задержки: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Посчитаем задержку в действительных значениях. С помощью палитры Monitoring выбираем Data Call и устанавливаем на переходе Start. Появившийся в меню монитор называем Queue Delay Real. Функцию Observer изменим следующим образом(рис. [-@fig:012]):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60500"/>
            <a:ext cx="5105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 сравнению с предыдущим описанием функции добавлено преобразование значения функции из целого в действительное, при этом obsBindElem _ принимает значение ~1.0. После запуска программы на выполнение в каталоге с кодом программы появится файл Queue_Delay_Real.log с содержимым, аналогичным содержимому файла Queue_Delay.log, но значения задержки имеют действительный тип (рис. [-@fig:013]):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203200"/>
            <a:ext cx="3251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Посчитаем, сколько раз задержка превысила заданное значение. С помощью палитры Monitoring выбираем Data Call и устанавливаем на переходе Start. Монитор называем Long Delay Time. Функцию Observer изменим следующим образом (рис. [-@fig:014]):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12900"/>
            <a:ext cx="51054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 этом необходимо в декларациях задать глобальную переменную (в форме ссылки на число 200): longdelaytime</a:t>
            </a:r>
          </a:p>
          <a:p>
            <a:pPr lvl="0" indent="0">
              <a:buNone/>
            </a:pPr>
            <a:r>
              <a:rPr>
                <a:latin typeface="Courier"/>
              </a:rPr>
              <a:t>globref longdaytime = 200
</a:t>
            </a:r>
          </a:p>
          <a:p>
            <a:pPr lvl="0" indent="0" marL="0">
              <a:buNone/>
            </a:pPr>
            <a:r>
              <a:rPr/>
              <a:t>После запуска программы на выполнение в каталоге с кодом программы появится файл Long_Delay_Time.log (рис. [-@fig:015])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05300" y="203200"/>
            <a:ext cx="3644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Мониторинг параметров моделируемой системы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помощью gnuplot можно построить график (рис. [-@fig:016]), демонстрирующий, в какие периоды времени значения задержки в очереди превышали заданное значение 200.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69900"/>
            <a:ext cx="5105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реализовала модель системы массового обслуживания M|M|1 в CPN Tools.</a:t>
            </a:r>
          </a:p>
          <a:p>
            <a:pPr lvl="0" indent="0" marL="0">
              <a:buNone/>
            </a:pPr>
            <a:r>
              <a:rPr/>
              <a:t>:::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№11</dc:title>
  <dc:creator>Эспиноса Василита К.М.</dc:creator>
  <cp:keywords/>
  <dcterms:created xsi:type="dcterms:W3CDTF">2025-04-26T21:35:25Z</dcterms:created>
  <dcterms:modified xsi:type="dcterms:W3CDTF">2025-04-26T21:35:25Z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babel-lang">
    <vt:lpwstr>russian</vt:lpwstr>
  </property>
  <property fmtid="{D5CDD505-2E9C-101B-9397-08002B2CF9AE}" pid="4" name="babel-otherlangs">
    <vt:lpwstr>english</vt:lpwstr>
  </property>
  <property fmtid="{D5CDD505-2E9C-101B-9397-08002B2CF9AE}" pid="5" name="date">
    <vt:lpwstr>26/04/2025</vt:lpwstr>
  </property>
  <property fmtid="{D5CDD505-2E9C-101B-9397-08002B2CF9AE}" pid="6" name="header-includes">
    <vt:lpwstr/>
  </property>
  <property fmtid="{D5CDD505-2E9C-101B-9397-08002B2CF9AE}" pid="7" name="institute">
    <vt:lpwstr/>
  </property>
  <property fmtid="{D5CDD505-2E9C-101B-9397-08002B2CF9AE}" pid="8" name="section-titles">
    <vt:lpwstr>True</vt:lpwstr>
  </property>
  <property fmtid="{D5CDD505-2E9C-101B-9397-08002B2CF9AE}" pid="9" name="slide_level">
    <vt:lpwstr>2</vt:lpwstr>
  </property>
  <property fmtid="{D5CDD505-2E9C-101B-9397-08002B2CF9AE}" pid="10" name="subtitle">
    <vt:lpwstr>Модель системы массового обслуживания M|M|1</vt:lpwstr>
  </property>
  <property fmtid="{D5CDD505-2E9C-101B-9397-08002B2CF9AE}" pid="11" name="theme">
    <vt:lpwstr>metropolis</vt:lpwstr>
  </property>
  <property fmtid="{D5CDD505-2E9C-101B-9397-08002B2CF9AE}" pid="12" name="toc">
    <vt:lpwstr>False</vt:lpwstr>
  </property>
  <property fmtid="{D5CDD505-2E9C-101B-9397-08002B2CF9AE}" pid="13" name="toc-title">
    <vt:lpwstr>Содержание</vt:lpwstr>
  </property>
</Properties>
</file>